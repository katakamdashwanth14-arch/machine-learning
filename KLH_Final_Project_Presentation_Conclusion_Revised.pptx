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69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-27991"/>
            <a:ext cx="12191695" cy="82296"/>
          </a:xfrm>
          <a:prstGeom prst="rect">
            <a:avLst/>
          </a:prstGeom>
          <a:solidFill>
            <a:srgbClr val="BE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2423160" cy="18010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88920" y="274320"/>
            <a:ext cx="8732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3054"/>
                </a:solidFill>
              </a:defRPr>
            </a:pPr>
            <a:r>
              <a:t>KLH UNIVERSITY</a:t>
            </a:r>
          </a:p>
          <a:p>
            <a:pPr algn="ctr">
              <a:defRPr sz="1700" b="1">
                <a:solidFill>
                  <a:srgbClr val="BE1419"/>
                </a:solidFill>
              </a:defRPr>
            </a:pPr>
            <a:r>
              <a:t>Hyderabad – Bachupally Campus</a:t>
            </a:r>
          </a:p>
          <a:p>
            <a:pPr algn="ctr">
              <a:defRPr sz="1300">
                <a:solidFill>
                  <a:srgbClr val="5F646C"/>
                </a:solidFill>
              </a:defRPr>
            </a:pPr>
            <a:r>
              <a:t>Department of Electronics and Communication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7544" y="1508623"/>
            <a:ext cx="10927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93054"/>
                </a:solidFill>
              </a:defRPr>
            </a:pPr>
            <a:r>
              <a:t>Conservative Offline Deep Reinforcement Learning</a:t>
            </a:r>
          </a:p>
          <a:p>
            <a:pPr algn="ctr">
              <a:defRPr sz="2200" b="1">
                <a:solidFill>
                  <a:srgbClr val="193054"/>
                </a:solidFill>
              </a:defRPr>
            </a:pPr>
            <a:r>
              <a:t>for Safe Spectrum Access in Dense IoT Networks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7919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1419"/>
                </a:solidFill>
              </a:defRPr>
            </a:pPr>
            <a:r>
              <a:t>PROJECT PROGRESS 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2120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rPr dirty="0"/>
              <a:t>PROJECT GUIDE</a:t>
            </a:r>
          </a:p>
          <a:p>
            <a:pPr algn="ctr">
              <a:defRPr sz="1900" b="1">
                <a:solidFill>
                  <a:srgbClr val="193054"/>
                </a:solidFill>
              </a:defRPr>
            </a:pPr>
            <a:r>
              <a:rPr dirty="0"/>
              <a:t>Dr. </a:t>
            </a:r>
            <a:r>
              <a:rPr dirty="0" err="1"/>
              <a:t>Vinnakota</a:t>
            </a:r>
            <a:r>
              <a:rPr dirty="0"/>
              <a:t> </a:t>
            </a:r>
            <a:r>
              <a:rPr dirty="0" err="1"/>
              <a:t>Venu</a:t>
            </a:r>
            <a:r>
              <a:rPr dirty="0"/>
              <a:t> </a:t>
            </a:r>
            <a:r>
              <a:rPr dirty="0" err="1"/>
              <a:t>Balaji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035040" y="3337560"/>
            <a:ext cx="54406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8288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rPr dirty="0"/>
              <a:t>PROJECT TEAM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rPr dirty="0" err="1"/>
              <a:t>Mithilesh</a:t>
            </a:r>
            <a:r>
              <a:rPr dirty="0"/>
              <a:t> </a:t>
            </a:r>
            <a:r>
              <a:rPr dirty="0" err="1"/>
              <a:t>Gullapalli</a:t>
            </a:r>
            <a:endParaRPr dirty="0"/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rPr dirty="0"/>
              <a:t>Roll No.: </a:t>
            </a:r>
            <a:r>
              <a:rPr dirty="0" smtClean="0"/>
              <a:t>2520040056</a:t>
            </a:r>
            <a:endParaRPr lang="en-US" dirty="0" smtClean="0"/>
          </a:p>
          <a:p>
            <a:pPr>
              <a:defRPr sz="1500" b="1">
                <a:solidFill>
                  <a:srgbClr val="2D2D2D"/>
                </a:solidFill>
              </a:defRPr>
            </a:pPr>
            <a:r>
              <a:rPr lang="en-US" dirty="0" err="1"/>
              <a:t>Tejashwer</a:t>
            </a:r>
            <a:r>
              <a:rPr lang="en-US" dirty="0"/>
              <a:t> Reddy S</a:t>
            </a:r>
          </a:p>
          <a:p>
            <a:pPr>
              <a:defRPr sz="1150">
                <a:solidFill>
                  <a:srgbClr val="5F646C"/>
                </a:solidFill>
              </a:defRPr>
            </a:pPr>
            <a:r>
              <a:rPr lang="en-US"/>
              <a:t>Roll No</a:t>
            </a:r>
            <a:r>
              <a:rPr lang="en-US"/>
              <a:t>.: </a:t>
            </a:r>
            <a:r>
              <a:rPr lang="en-US" smtClean="0"/>
              <a:t>2520040059</a:t>
            </a:r>
            <a:endParaRPr dirty="0"/>
          </a:p>
          <a:p>
            <a:pPr>
              <a:defRPr sz="1500" b="1">
                <a:solidFill>
                  <a:srgbClr val="2D2D2D"/>
                </a:solidFill>
              </a:defRPr>
            </a:pPr>
            <a:r>
              <a:rPr lang="en-US" dirty="0"/>
              <a:t>K </a:t>
            </a:r>
            <a:r>
              <a:rPr lang="en-US" dirty="0" err="1"/>
              <a:t>Dashwath</a:t>
            </a:r>
            <a:endParaRPr lang="en-IN" dirty="0"/>
          </a:p>
          <a:p>
            <a:pPr>
              <a:defRPr sz="1150">
                <a:solidFill>
                  <a:srgbClr val="5F646C"/>
                </a:solidFill>
              </a:defRPr>
            </a:pPr>
            <a:r>
              <a:rPr lang="en-IN" dirty="0"/>
              <a:t>Roll No.: 2520040122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rPr dirty="0" smtClean="0"/>
              <a:t>Paidi </a:t>
            </a:r>
            <a:r>
              <a:rPr dirty="0"/>
              <a:t>Sai Chaitanya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rPr dirty="0"/>
              <a:t>Roll No.: 2520049125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F646C"/>
                </a:solidFill>
              </a:defRPr>
            </a:pPr>
            <a:r>
              <a:t>Electronics and Communication Engineering  •  KLH University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-37323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7323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400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09EA0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03E"/>
                </a:solidFill>
                <a:latin typeface="Aptos"/>
              </a:defRPr>
            </a:pPr>
            <a:r>
              <a:t>•  Dense IoT devices compete for limited spectrum resources.</a:t>
            </a:r>
          </a:p>
          <a:p>
            <a:pPr>
              <a:spcAft>
                <a:spcPts val="1200"/>
              </a:spcAft>
              <a:defRPr sz="1800">
                <a:solidFill>
                  <a:srgbClr val="23303E"/>
                </a:solidFill>
                <a:latin typeface="Aptos"/>
              </a:defRPr>
            </a:pPr>
            <a:r>
              <a:t>•  Interference, congestion and collisions can degrade latency, packet delivery and energy cost.</a:t>
            </a:r>
          </a:p>
          <a:p>
            <a:pPr>
              <a:spcAft>
                <a:spcPts val="1200"/>
              </a:spcAft>
              <a:defRPr sz="1800">
                <a:solidFill>
                  <a:srgbClr val="23303E"/>
                </a:solidFill>
                <a:latin typeface="Aptos"/>
              </a:defRPr>
            </a:pPr>
            <a:r>
              <a:t>•  Live trial-and-error reinforcement learning may explore undesirable channel choices.</a:t>
            </a:r>
          </a:p>
          <a:p>
            <a:pPr>
              <a:spcAft>
                <a:spcPts val="1200"/>
              </a:spcAft>
              <a:defRPr sz="1800">
                <a:solidFill>
                  <a:srgbClr val="23303E"/>
                </a:solidFill>
                <a:latin typeface="Aptos"/>
              </a:defRPr>
            </a:pPr>
            <a:r>
              <a:t>•  Historical transmission data can support policy learning without online exploration.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234440"/>
            <a:ext cx="3886200" cy="123444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44968" y="1371600"/>
            <a:ext cx="3566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764792"/>
            <a:ext cx="35204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Select a frequency channel from the observed network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743200"/>
            <a:ext cx="3886200" cy="123444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1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2880360"/>
            <a:ext cx="3566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273552"/>
            <a:ext cx="35204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Improve a reward balancing delivery and data rate against transmission costs.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251960"/>
            <a:ext cx="3886200" cy="123444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4251960"/>
            <a:ext cx="73152" cy="1234440"/>
          </a:xfrm>
          <a:prstGeom prst="rect">
            <a:avLst/>
          </a:prstGeom>
          <a:solidFill>
            <a:srgbClr val="ECA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4389120"/>
            <a:ext cx="3566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4782312"/>
            <a:ext cx="35204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Screen historically high-risk actions using interference, loss, collisions and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Dataset &amp; Wireless State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2971800" cy="1143000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078992"/>
            <a:ext cx="265176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700" b="1">
                <a:solidFill>
                  <a:srgbClr val="1C5D91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5F7080"/>
                </a:solidFill>
                <a:latin typeface="Aptos"/>
              </a:defRPr>
            </a:pPr>
            <a:r>
              <a:t>transmission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2971800" cy="1143000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1078992"/>
            <a:ext cx="265176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700" b="1">
                <a:solidFill>
                  <a:srgbClr val="1C5D91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6002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5F7080"/>
                </a:solidFill>
                <a:latin typeface="Aptos"/>
              </a:defRPr>
            </a:pPr>
            <a:r>
              <a:t>raw dataset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960120"/>
            <a:ext cx="2971800" cy="1143000"/>
          </a:xfrm>
          <a:prstGeom prst="roundRect">
            <a:avLst/>
          </a:prstGeom>
          <a:solidFill>
            <a:srgbClr val="EBF3F8"/>
          </a:solidFill>
          <a:ln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1078992"/>
            <a:ext cx="265176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700" b="1">
                <a:solidFill>
                  <a:srgbClr val="1C5D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160020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5F7080"/>
                </a:solidFill>
                <a:latin typeface="Aptos"/>
              </a:defRPr>
            </a:pPr>
            <a:r>
              <a:t>frequency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009EA0"/>
                </a:solidFill>
                <a:latin typeface="Aptos"/>
              </a:defRPr>
            </a:pPr>
            <a:r>
              <a:t>10 STATE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Channel occupancy; interference power and density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Packet collision rate; packet loss rate; latency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RSSI; SNR; node density; network congestion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009EA0"/>
                </a:solidFill>
                <a:latin typeface="Aptos"/>
              </a:defRPr>
            </a:pPr>
            <a:r>
              <a:t>DISCRETE ACTION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433 MHz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470 MHz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868 MHz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915 MHz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923 MHz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5F7080"/>
                </a:solidFill>
                <a:latin typeface="Aptos"/>
              </a:defRPr>
            </a:pPr>
            <a:r>
              <a:t>Data are observational; metric units follow the dataset definitions. No live radio experiment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Proposed Method: Conservative Offline Q-Learning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60020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28016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1 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10 standardized wireless/network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14300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53128" y="1143000"/>
            <a:ext cx="73152" cy="1600200"/>
          </a:xfrm>
          <a:prstGeom prst="rect">
            <a:avLst/>
          </a:prstGeom>
          <a:solidFill>
            <a:srgbClr val="1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128016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2 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67335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Choose among five recorded frequency 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114300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11896" y="1143000"/>
            <a:ext cx="73152" cy="1600200"/>
          </a:xfrm>
          <a:prstGeom prst="rect">
            <a:avLst/>
          </a:prstGeom>
          <a:solidFill>
            <a:srgbClr val="ECA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13064" y="128016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3  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167335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Data rate + delivery success + SNR; penalties for interference, loss, latency and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8328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383280"/>
            <a:ext cx="73152" cy="1600200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52044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4  Q-network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1363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10 → 128 → 64 → 32 → 5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38328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53128" y="3383280"/>
            <a:ext cx="73152" cy="1600200"/>
          </a:xfrm>
          <a:prstGeom prst="rect">
            <a:avLst/>
          </a:prstGeom>
          <a:solidFill>
            <a:srgbClr val="1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54296" y="352044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5  Conservative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391363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Bellman loss + α[logsumexp(Q) − Q(observed action)]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1896" y="3383280"/>
            <a:ext cx="347472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A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11896" y="3383280"/>
            <a:ext cx="73152" cy="1600200"/>
          </a:xfrm>
          <a:prstGeom prst="rect">
            <a:avLst/>
          </a:prstGeom>
          <a:solidFill>
            <a:srgbClr val="ECA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13064" y="3520440"/>
            <a:ext cx="3154679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0E1F39"/>
                </a:solidFill>
                <a:latin typeface="Aptos"/>
              </a:defRPr>
            </a:pPr>
            <a:r>
              <a:t>6  Safety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4" y="3913632"/>
            <a:ext cx="31089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Reject actions above the historical risk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5F7080"/>
                </a:solidFill>
                <a:latin typeface="Aptos"/>
              </a:defRPr>
            </a:pPr>
            <a:r>
              <a:t>Prototype settings: γ = 0.95  •  α = 0.10  •  batch size = 128  •  25 epochs  •  80/20 train–test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Historical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Transmission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224028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009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296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41448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Select features; 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224028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009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Build transitions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State, observed action, reward, next-state approximation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4028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009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Train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Conservative Q-network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24028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009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Apply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Historical risk screening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224028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009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28800"/>
            <a:ext cx="1645920" cy="1417320"/>
          </a:xfrm>
          <a:prstGeom prst="roundRect">
            <a:avLst/>
          </a:prstGeom>
          <a:solidFill>
            <a:srgbClr val="EBF3F8"/>
          </a:solidFill>
          <a:ln>
            <a:solidFill>
              <a:srgbClr val="CD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68712" y="1993392"/>
            <a:ext cx="149961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C5D91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487168"/>
            <a:ext cx="142646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23303E"/>
                </a:solidFill>
                <a:latin typeface="Aptos"/>
              </a:defRPr>
            </a:pPr>
            <a:r>
              <a:t>Reward and wireless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009EA0"/>
                </a:solidFill>
                <a:latin typeface="Aptos"/>
              </a:defRPr>
            </a:pPr>
            <a:r>
              <a:t>Implementation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8056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Training uses historical data only; the evaluation is offline and empirical.</a:t>
            </a:r>
          </a:p>
          <a:p>
            <a:pPr>
              <a:spcAft>
                <a:spcPts val="12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The next-state construction is a prototype approximation, not a causal model of network evolution.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900" b="1">
                <a:solidFill>
                  <a:srgbClr val="1E3147"/>
                </a:solidFill>
                <a:latin typeface="Aptos"/>
              </a:defRPr>
            </a:pPr>
            <a:r>
              <a:t>Project Workflow / Implementation —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2004"/>
          </a:xfrm>
          <a:prstGeom prst="rect">
            <a:avLst/>
          </a:prstGeom>
          <a:solidFill>
            <a:srgbClr val="E75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147"/>
                </a:solidFill>
                <a:latin typeface="Aptos"/>
              </a:defRPr>
            </a:pPr>
            <a:r>
              <a:t>Transmission\nDataset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50876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147"/>
                </a:solidFill>
                <a:latin typeface="Aptos"/>
              </a:defRPr>
            </a:pPr>
            <a:r>
              <a:t>Preprocess &amp;\nNormalize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0876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147"/>
                </a:solidFill>
                <a:latin typeface="Aptos"/>
              </a:defRPr>
            </a:pPr>
            <a:r>
              <a:t>State–Action–\nReward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147"/>
                </a:solidFill>
                <a:latin typeface="Aptos"/>
              </a:defRPr>
            </a:pPr>
            <a:r>
              <a:t>Conservative\nQ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0876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147"/>
                </a:solidFill>
                <a:latin typeface="Aptos"/>
              </a:defRPr>
            </a:pPr>
            <a:r>
              <a:t>Safety\nFilter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47672" y="1719072"/>
            <a:ext cx="256032" cy="201168"/>
          </a:xfrm>
          <a:prstGeom prst="rightArrow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867912" y="1719072"/>
            <a:ext cx="256032" cy="201168"/>
          </a:xfrm>
          <a:prstGeom prst="rightArrow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788152" y="1719072"/>
            <a:ext cx="256032" cy="201168"/>
          </a:xfrm>
          <a:prstGeom prst="rightArrow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708392" y="1719072"/>
            <a:ext cx="256032" cy="201168"/>
          </a:xfrm>
          <a:prstGeom prst="rightArrow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01101" y="2733310"/>
            <a:ext cx="1828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4B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147"/>
                </a:solidFill>
              </a:defRPr>
            </a:pPr>
            <a:r>
              <a:t>Evaluation &amp;\nWireless Metrics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720840" y="2267712"/>
            <a:ext cx="347472" cy="384048"/>
          </a:xfrm>
          <a:prstGeom prst="downArrow">
            <a:avLst/>
          </a:prstGeom>
          <a:solidFill>
            <a:srgbClr val="009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1605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300" b="1">
                <a:solidFill>
                  <a:srgbClr val="1E3147"/>
                </a:solidFill>
                <a:latin typeface="Aptos"/>
              </a:defRPr>
            </a:pPr>
            <a:r>
              <a:t>Implementation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960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73F4B"/>
                </a:solidFill>
                <a:latin typeface="Aptos"/>
              </a:defRPr>
            </a:pPr>
            <a:r>
              <a:t>• Environment states are represented by recorded transmission conditions, not live RF experimentation.\n• Offline training uses historical samples; evaluation remains an offline estimate.\n• Outputs include channel decisions, estimated reward, risk screening, and wireless performance plots.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19672"/>
            <a:ext cx="114300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00" b="0">
                <a:solidFill>
                  <a:srgbClr val="646973"/>
                </a:solidFill>
                <a:latin typeface="Aptos"/>
              </a:defRPr>
            </a:pPr>
            <a:r>
              <a:rPr dirty="0"/>
              <a:t>KLH University  •  Electronics and Communication </a:t>
            </a:r>
            <a:r>
              <a:rPr dirty="0" smtClean="0"/>
              <a:t>Engineering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Wireless Link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pic>
        <p:nvPicPr>
          <p:cNvPr id="6" name="Picture 5" descr="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4480560"/>
          </a:xfrm>
          <a:prstGeom prst="rect">
            <a:avLst/>
          </a:prstGeom>
        </p:spPr>
      </p:pic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864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Percentile curves show the average trend and 5th–95th percentile spread across recorded observations.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Transmission Reliability &amp; Interference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pic>
        <p:nvPicPr>
          <p:cNvPr id="6" name="Picture 5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77840" cy="4480560"/>
          </a:xfrm>
          <a:prstGeom prst="rect">
            <a:avLst/>
          </a:prstGeom>
        </p:spPr>
      </p:pic>
      <p:pic>
        <p:nvPicPr>
          <p:cNvPr id="7" name="Picture 6" descr="coll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864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Packet-loss fraction is based on Packet_Loss_Rate; it is not a directly measured bit-error rate (BER).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Energy, Interference &amp; Channel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pic>
        <p:nvPicPr>
          <p:cNvPr id="6" name="Picture 5" descr="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623560" cy="4343400"/>
          </a:xfrm>
          <a:prstGeom prst="rect">
            <a:avLst/>
          </a:prstGeom>
        </p:spPr>
      </p:pic>
      <p:pic>
        <p:nvPicPr>
          <p:cNvPr id="7" name="Picture 6" descr="inter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62356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3212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Successful-throughput proxy = Data_Rate × delivery-success indicator. It is not a time-measured throughput result; plots show associations, not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500" b="1">
                <a:solidFill>
                  <a:srgbClr val="0E1F39"/>
                </a:solidFill>
                <a:latin typeface="Aptos"/>
              </a:defRPr>
            </a:pPr>
            <a:r>
              <a:t>Safety Screening &amp; Preliminary Policy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5F7080"/>
                </a:solidFill>
                <a:latin typeface="Aptos"/>
              </a:defRPr>
            </a:pPr>
            <a:r>
              <a:t>KLH University  •  Electronics &amp; Communication Engineering</a:t>
            </a:r>
          </a:p>
        </p:txBody>
      </p:sp>
      <p:pic>
        <p:nvPicPr>
          <p:cNvPr id="6" name="Picture 5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3200400"/>
          </a:xfrm>
          <a:prstGeom prst="rect">
            <a:avLst/>
          </a:prstGeom>
        </p:spPr>
      </p:pic>
      <p:pic>
        <p:nvPicPr>
          <p:cNvPr id="7" name="Picture 6" descr="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2628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009EA0"/>
                </a:solidFill>
                <a:latin typeface="Aptos"/>
              </a:defRPr>
            </a:pPr>
            <a:r>
              <a:t>HISTORICAL RISK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3303E"/>
                </a:solidFill>
                <a:latin typeface="Aptos"/>
              </a:defRPr>
            </a:pPr>
            <a:r>
              <a:t>Project-defined score combines interference density, packet loss, collision rate and latency. 915 MHz ranked highest in the recorded comparison; 470 MHz ranked lowest.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009EA0"/>
                </a:solidFill>
                <a:latin typeface="Aptos"/>
              </a:defRPr>
            </a:pPr>
            <a:r>
              <a:t>OFFLINE ESTIMATED 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892040"/>
            <a:ext cx="502920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23303E"/>
                </a:solidFill>
                <a:latin typeface="Aptos"/>
              </a:defRPr>
            </a:pPr>
            <a:r>
              <a:t>Random: 0.2176</a:t>
            </a:r>
          </a:p>
          <a:p>
            <a:pPr>
              <a:defRPr sz="1300" b="1">
                <a:solidFill>
                  <a:srgbClr val="23303E"/>
                </a:solidFill>
                <a:latin typeface="Aptos"/>
              </a:defRPr>
            </a:pPr>
            <a:r>
              <a:t>DQN: 0.2175</a:t>
            </a:r>
          </a:p>
          <a:p>
            <a:pPr>
              <a:defRPr sz="1300" b="1">
                <a:solidFill>
                  <a:srgbClr val="23303E"/>
                </a:solidFill>
                <a:latin typeface="Aptos"/>
              </a:defRPr>
            </a:pPr>
            <a:r>
              <a:t>Conservative Safe RL: 0.2181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Safety threshold is a project screening rule, not a certified RF safety standard. Results are preliminary offline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687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Paidi Sai Chaitanya</dc:creator>
  <cp:keywords/>
  <dc:description>generated using python-pptx</dc:description>
  <cp:lastModifiedBy>DELL</cp:lastModifiedBy>
  <cp:revision>9</cp:revision>
  <dcterms:created xsi:type="dcterms:W3CDTF">2013-01-27T09:14:16Z</dcterms:created>
  <dcterms:modified xsi:type="dcterms:W3CDTF">2026-10-14T14:56:18Z</dcterms:modified>
  <cp:category/>
</cp:coreProperties>
</file>